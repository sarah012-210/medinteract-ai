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199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team: Mariam Ali, Sarah Mohsen and Sarah Sameh.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has three parts: many medicines, hard-to-read handwriting, and slow manual checking. Our idea answers all three and keeps a human in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steps. The safety rule is the most important design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gives the model and the reason we chose it. SQLite is used for the exact pair lookup.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three sources supply safety knowledge. The two Kaggle sets supply handwriting images (6,618 images after cleaning, 454 medicine names).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DDInter data is non-commercial (CC BY-NC-SA 4.0) and the BD handwriting set is for educational and research use, so this project is educational.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team: Mariam Ali, Sarah Mohsen and Sarah Sameh.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960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MedInteract AI  |  Educational use only, not medical advice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ug A circle"/>
          <p:cNvSpPr/>
          <p:nvPr/>
        </p:nvSpPr>
        <p:spPr>
          <a:xfrm>
            <a:off x="7315200" y="1188720"/>
            <a:ext cx="3291840" cy="3291840"/>
          </a:xfrm>
          <a:prstGeom prst="ellipse">
            <a:avLst/>
          </a:prstGeom>
          <a:solidFill>
            <a:schemeClr val="accent1">
              <a:alpha val="75000"/>
            </a:schemeClr>
          </a:solidFill>
          <a:ln/>
        </p:spPr>
      </p:sp>
      <p:sp>
        <p:nvSpPr>
          <p:cNvPr id="3" name="Drug B circle"/>
          <p:cNvSpPr/>
          <p:nvPr/>
        </p:nvSpPr>
        <p:spPr>
          <a:xfrm>
            <a:off x="8778240" y="2011680"/>
            <a:ext cx="3291840" cy="3291840"/>
          </a:xfrm>
          <a:prstGeom prst="ellipse">
            <a:avLst/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4" name="Drug A label"/>
          <p:cNvSpPr txBox="1"/>
          <p:nvPr/>
        </p:nvSpPr>
        <p:spPr>
          <a:xfrm>
            <a:off x="777240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Drug A</a:t>
            </a:r>
            <a:endParaRPr lang="en-US" sz="1800" dirty="0"/>
          </a:p>
        </p:txBody>
      </p:sp>
      <p:sp>
        <p:nvSpPr>
          <p:cNvPr id="5" name="Drug B label"/>
          <p:cNvSpPr txBox="1"/>
          <p:nvPr/>
        </p:nvSpPr>
        <p:spPr>
          <a:xfrm>
            <a:off x="1024128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Drug B</a:t>
            </a:r>
            <a:endParaRPr lang="en-US" sz="1800" dirty="0"/>
          </a:p>
        </p:txBody>
      </p:sp>
      <p:sp>
        <p:nvSpPr>
          <p:cNvPr id="6" name="Interaction label"/>
          <p:cNvSpPr txBox="1"/>
          <p:nvPr/>
        </p:nvSpPr>
        <p:spPr>
          <a:xfrm>
            <a:off x="8732520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bg1"/>
                </a:solidFill>
              </a:rPr>
              <a:t>interaction?</a:t>
            </a:r>
            <a:endParaRPr lang="en-US" sz="16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MedInteract AI</a:t>
            </a:r>
            <a:endParaRPr lang="en-US" sz="4400" dirty="0"/>
          </a:p>
        </p:txBody>
      </p:sp>
      <p:sp>
        <p:nvSpPr>
          <p:cNvPr id="8" name="Subtitle"/>
          <p:cNvSpPr txBox="1"/>
          <p:nvPr/>
        </p:nvSpPr>
        <p:spPr>
          <a:xfrm>
            <a:off x="548640" y="160020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accent4"/>
                </a:solidFill>
              </a:rPr>
              <a:t>From a handwritten prescription to a drug-interaction safety report</a:t>
            </a:r>
            <a:endParaRPr lang="en-US" sz="2400" dirty="0"/>
          </a:p>
        </p:txBody>
      </p:sp>
      <p:sp>
        <p:nvSpPr>
          <p:cNvPr id="9" name="Team label"/>
          <p:cNvSpPr txBox="1"/>
          <p:nvPr/>
        </p:nvSpPr>
        <p:spPr>
          <a:xfrm>
            <a:off x="54864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Project team</a:t>
            </a:r>
            <a:endParaRPr lang="en-US" sz="1600" dirty="0"/>
          </a:p>
        </p:txBody>
      </p:sp>
      <p:sp>
        <p:nvSpPr>
          <p:cNvPr id="10" name="Member pill 1"/>
          <p:cNvSpPr/>
          <p:nvPr/>
        </p:nvSpPr>
        <p:spPr>
          <a:xfrm>
            <a:off x="548640" y="457200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1" name="Member name 1"/>
          <p:cNvSpPr txBox="1"/>
          <p:nvPr/>
        </p:nvSpPr>
        <p:spPr>
          <a:xfrm>
            <a:off x="822960" y="4572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Mariam Ali</a:t>
            </a:r>
            <a:endParaRPr lang="en-US" sz="1800" dirty="0"/>
          </a:p>
        </p:txBody>
      </p:sp>
      <p:sp>
        <p:nvSpPr>
          <p:cNvPr id="12" name="Member pill 2"/>
          <p:cNvSpPr/>
          <p:nvPr/>
        </p:nvSpPr>
        <p:spPr>
          <a:xfrm>
            <a:off x="548640" y="512064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3" name="Member name 2"/>
          <p:cNvSpPr txBox="1"/>
          <p:nvPr/>
        </p:nvSpPr>
        <p:spPr>
          <a:xfrm>
            <a:off x="822960" y="5120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Sarah Mohsen</a:t>
            </a:r>
            <a:endParaRPr lang="en-US" sz="1800" dirty="0"/>
          </a:p>
        </p:txBody>
      </p:sp>
      <p:sp>
        <p:nvSpPr>
          <p:cNvPr id="14" name="Member pill 3"/>
          <p:cNvSpPr/>
          <p:nvPr/>
        </p:nvSpPr>
        <p:spPr>
          <a:xfrm>
            <a:off x="548640" y="566928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5" name="Member name 3"/>
          <p:cNvSpPr txBox="1"/>
          <p:nvPr/>
        </p:nvSpPr>
        <p:spPr>
          <a:xfrm>
            <a:off x="822960" y="5669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Sarah Sameh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 and our idea</a:t>
            </a:r>
            <a:endParaRPr lang="en-US" sz="3600" dirty="0"/>
          </a:p>
        </p:txBody>
      </p:sp>
      <p:sp>
        <p:nvSpPr>
          <p:cNvPr id="3" name="Problem header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4" name="Problem card 1"/>
          <p:cNvSpPr/>
          <p:nvPr/>
        </p:nvSpPr>
        <p:spPr>
          <a:xfrm>
            <a:off x="548640" y="1828800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FBE9E4"/>
          </a:solidFill>
          <a:ln/>
        </p:spPr>
      </p:sp>
      <p:sp>
        <p:nvSpPr>
          <p:cNvPr id="5" name="Problem 1 circle"/>
          <p:cNvSpPr/>
          <p:nvPr/>
        </p:nvSpPr>
        <p:spPr>
          <a:xfrm>
            <a:off x="777240" y="21031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Problem 1 icon" descr="Probl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2293315"/>
            <a:ext cx="351130" cy="351130"/>
          </a:xfrm>
          <a:prstGeom prst="rect">
            <a:avLst/>
          </a:prstGeom>
        </p:spPr>
      </p:pic>
      <p:sp>
        <p:nvSpPr>
          <p:cNvPr id="7" name="Problem text 1"/>
          <p:cNvSpPr txBox="1"/>
          <p:nvPr/>
        </p:nvSpPr>
        <p:spPr>
          <a:xfrm>
            <a:off x="1737360" y="18288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Taking several medicines together can be risky, and every extra medicine adds more pairs to check.</a:t>
            </a:r>
            <a:endParaRPr lang="en-US" sz="1600" dirty="0"/>
          </a:p>
        </p:txBody>
      </p:sp>
      <p:sp>
        <p:nvSpPr>
          <p:cNvPr id="8" name="Problem card 2"/>
          <p:cNvSpPr/>
          <p:nvPr/>
        </p:nvSpPr>
        <p:spPr>
          <a:xfrm>
            <a:off x="548640" y="3291840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FBE9E4"/>
          </a:solidFill>
          <a:ln/>
        </p:spPr>
      </p:sp>
      <p:sp>
        <p:nvSpPr>
          <p:cNvPr id="9" name="Problem 2 circle"/>
          <p:cNvSpPr/>
          <p:nvPr/>
        </p:nvSpPr>
        <p:spPr>
          <a:xfrm>
            <a:off x="777240" y="35661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Problem 2 icon" descr="Probl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435" y="3756355"/>
            <a:ext cx="351130" cy="351130"/>
          </a:xfrm>
          <a:prstGeom prst="rect">
            <a:avLst/>
          </a:prstGeom>
        </p:spPr>
      </p:pic>
      <p:sp>
        <p:nvSpPr>
          <p:cNvPr id="11" name="Problem text 2"/>
          <p:cNvSpPr txBox="1"/>
          <p:nvPr/>
        </p:nvSpPr>
        <p:spPr>
          <a:xfrm>
            <a:off x="1737360" y="32918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Doctors' handwriting is hard to read, so a drug name can be misread.</a:t>
            </a:r>
            <a:endParaRPr lang="en-US" sz="1600" dirty="0"/>
          </a:p>
        </p:txBody>
      </p:sp>
      <p:sp>
        <p:nvSpPr>
          <p:cNvPr id="12" name="Problem card 3"/>
          <p:cNvSpPr/>
          <p:nvPr/>
        </p:nvSpPr>
        <p:spPr>
          <a:xfrm>
            <a:off x="548640" y="4754880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FBE9E4"/>
          </a:solidFill>
          <a:ln/>
        </p:spPr>
      </p:sp>
      <p:sp>
        <p:nvSpPr>
          <p:cNvPr id="13" name="Problem 3 circle"/>
          <p:cNvSpPr/>
          <p:nvPr/>
        </p:nvSpPr>
        <p:spPr>
          <a:xfrm>
            <a:off x="777240" y="50292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Problem 3 icon" descr="Probl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" y="5219395"/>
            <a:ext cx="351130" cy="351130"/>
          </a:xfrm>
          <a:prstGeom prst="rect">
            <a:avLst/>
          </a:prstGeom>
        </p:spPr>
      </p:pic>
      <p:sp>
        <p:nvSpPr>
          <p:cNvPr id="15" name="Problem text 3"/>
          <p:cNvSpPr txBox="1"/>
          <p:nvPr/>
        </p:nvSpPr>
        <p:spPr>
          <a:xfrm>
            <a:off x="1737360" y="475488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Checking each pair by hand is slow, and no warning is easy to mistake for safe.</a:t>
            </a:r>
            <a:endParaRPr lang="en-US" sz="1600" dirty="0"/>
          </a:p>
        </p:txBody>
      </p:sp>
      <p:sp>
        <p:nvSpPr>
          <p:cNvPr id="16" name="Idea card"/>
          <p:cNvSpPr/>
          <p:nvPr/>
        </p:nvSpPr>
        <p:spPr>
          <a:xfrm>
            <a:off x="6172200" y="1371600"/>
            <a:ext cx="5468112" cy="4572000"/>
          </a:xfrm>
          <a:prstGeom prst="roundRect">
            <a:avLst>
              <a:gd name="adj" fmla="val 2400"/>
            </a:avLst>
          </a:prstGeom>
          <a:solidFill>
            <a:schemeClr val="tx1"/>
          </a:solidFill>
          <a:ln/>
        </p:spPr>
      </p:sp>
      <p:sp>
        <p:nvSpPr>
          <p:cNvPr id="17" name="Idea header"/>
          <p:cNvSpPr txBox="1"/>
          <p:nvPr/>
        </p:nvSpPr>
        <p:spPr>
          <a:xfrm>
            <a:off x="653796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Our idea</a:t>
            </a:r>
            <a:endParaRPr lang="en-US" sz="2000" dirty="0"/>
          </a:p>
        </p:txBody>
      </p:sp>
      <p:sp>
        <p:nvSpPr>
          <p:cNvPr id="18" name="Idea text"/>
          <p:cNvSpPr txBox="1"/>
          <p:nvPr/>
        </p:nvSpPr>
        <p:spPr>
          <a:xfrm>
            <a:off x="6537960" y="22860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Read the prescription, check every pair of medicines against real data, and explain any risk in simple words.</a:t>
            </a:r>
            <a:endParaRPr lang="en-US" sz="2200" dirty="0"/>
          </a:p>
        </p:txBody>
      </p:sp>
      <p:sp>
        <p:nvSpPr>
          <p:cNvPr id="19" name="Idea note"/>
          <p:cNvSpPr txBox="1"/>
          <p:nvPr/>
        </p:nvSpPr>
        <p:spPr>
          <a:xfrm>
            <a:off x="6537960" y="42976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A person confirms every drug name, and the tool always sends the user back to a doctor or pharmacist.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554480"/>
            <a:ext cx="2039112" cy="3017520"/>
          </a:xfrm>
          <a:prstGeom prst="roundRect">
            <a:avLst>
              <a:gd name="adj" fmla="val 5381"/>
            </a:avLst>
          </a:prstGeom>
          <a:solidFill>
            <a:schemeClr val="bg2"/>
          </a:solidFill>
          <a:ln/>
        </p:spPr>
      </p:sp>
      <p:sp>
        <p:nvSpPr>
          <p:cNvPr id="4" name="Step number circle 1"/>
          <p:cNvSpPr/>
          <p:nvPr/>
        </p:nvSpPr>
        <p:spPr>
          <a:xfrm>
            <a:off x="1339596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 number 1"/>
          <p:cNvSpPr txBox="1"/>
          <p:nvPr/>
        </p:nvSpPr>
        <p:spPr>
          <a:xfrm>
            <a:off x="133959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tep title 1"/>
          <p:cNvSpPr txBox="1"/>
          <p:nvPr/>
        </p:nvSpPr>
        <p:spPr>
          <a:xfrm>
            <a:off x="685800" y="246888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Read</a:t>
            </a:r>
            <a:endParaRPr lang="en-US" sz="2000" dirty="0"/>
          </a:p>
        </p:txBody>
      </p:sp>
      <p:sp>
        <p:nvSpPr>
          <p:cNvPr id="7" name="Step text 1"/>
          <p:cNvSpPr txBox="1"/>
          <p:nvPr/>
        </p:nvSpPr>
        <p:spPr>
          <a:xfrm>
            <a:off x="685800" y="3017520"/>
            <a:ext cx="1764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A handwriting model reads the drug name from the image.</a:t>
            </a:r>
            <a:endParaRPr lang="en-US" sz="1600" dirty="0"/>
          </a:p>
        </p:txBody>
      </p:sp>
      <p:sp>
        <p:nvSpPr>
          <p:cNvPr id="8" name="Flow arrow 1"/>
          <p:cNvSpPr/>
          <p:nvPr/>
        </p:nvSpPr>
        <p:spPr>
          <a:xfrm>
            <a:off x="2587752" y="2926080"/>
            <a:ext cx="224028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Step card 2"/>
          <p:cNvSpPr/>
          <p:nvPr/>
        </p:nvSpPr>
        <p:spPr>
          <a:xfrm>
            <a:off x="2811780" y="1554480"/>
            <a:ext cx="2039112" cy="3017520"/>
          </a:xfrm>
          <a:prstGeom prst="roundRect">
            <a:avLst>
              <a:gd name="adj" fmla="val 5381"/>
            </a:avLst>
          </a:prstGeom>
          <a:solidFill>
            <a:schemeClr val="bg2"/>
          </a:solidFill>
          <a:ln/>
        </p:spPr>
      </p:sp>
      <p:sp>
        <p:nvSpPr>
          <p:cNvPr id="10" name="Step number circle 2"/>
          <p:cNvSpPr/>
          <p:nvPr/>
        </p:nvSpPr>
        <p:spPr>
          <a:xfrm>
            <a:off x="3602736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 number 2"/>
          <p:cNvSpPr txBox="1"/>
          <p:nvPr/>
        </p:nvSpPr>
        <p:spPr>
          <a:xfrm>
            <a:off x="360273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tep title 2"/>
          <p:cNvSpPr txBox="1"/>
          <p:nvPr/>
        </p:nvSpPr>
        <p:spPr>
          <a:xfrm>
            <a:off x="2948940" y="246888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Match</a:t>
            </a:r>
            <a:endParaRPr lang="en-US" sz="2000" dirty="0"/>
          </a:p>
        </p:txBody>
      </p:sp>
      <p:sp>
        <p:nvSpPr>
          <p:cNvPr id="13" name="Step text 2"/>
          <p:cNvSpPr txBox="1"/>
          <p:nvPr/>
        </p:nvSpPr>
        <p:spPr>
          <a:xfrm>
            <a:off x="2948940" y="3017520"/>
            <a:ext cx="1764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The name is matched to a known generic drug.</a:t>
            </a:r>
            <a:endParaRPr lang="en-US" sz="1600" dirty="0"/>
          </a:p>
        </p:txBody>
      </p:sp>
      <p:sp>
        <p:nvSpPr>
          <p:cNvPr id="14" name="Flow arrow 2"/>
          <p:cNvSpPr/>
          <p:nvPr/>
        </p:nvSpPr>
        <p:spPr>
          <a:xfrm>
            <a:off x="4850892" y="2926080"/>
            <a:ext cx="224028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Step card 3"/>
          <p:cNvSpPr/>
          <p:nvPr/>
        </p:nvSpPr>
        <p:spPr>
          <a:xfrm>
            <a:off x="5074920" y="1554480"/>
            <a:ext cx="2039112" cy="3017520"/>
          </a:xfrm>
          <a:prstGeom prst="roundRect">
            <a:avLst>
              <a:gd name="adj" fmla="val 5381"/>
            </a:avLst>
          </a:prstGeom>
          <a:solidFill>
            <a:schemeClr val="bg2"/>
          </a:solidFill>
          <a:ln/>
        </p:spPr>
      </p:sp>
      <p:sp>
        <p:nvSpPr>
          <p:cNvPr id="16" name="Step number circle 3"/>
          <p:cNvSpPr/>
          <p:nvPr/>
        </p:nvSpPr>
        <p:spPr>
          <a:xfrm>
            <a:off x="5865876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tep number 3"/>
          <p:cNvSpPr txBox="1"/>
          <p:nvPr/>
        </p:nvSpPr>
        <p:spPr>
          <a:xfrm>
            <a:off x="586587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Step title 3"/>
          <p:cNvSpPr txBox="1"/>
          <p:nvPr/>
        </p:nvSpPr>
        <p:spPr>
          <a:xfrm>
            <a:off x="5212080" y="246888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Check</a:t>
            </a:r>
            <a:endParaRPr lang="en-US" sz="2000" dirty="0"/>
          </a:p>
        </p:txBody>
      </p:sp>
      <p:sp>
        <p:nvSpPr>
          <p:cNvPr id="19" name="Step text 3"/>
          <p:cNvSpPr txBox="1"/>
          <p:nvPr/>
        </p:nvSpPr>
        <p:spPr>
          <a:xfrm>
            <a:off x="5212080" y="3017520"/>
            <a:ext cx="1764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Each pair is looked up in a real interaction database.</a:t>
            </a:r>
            <a:endParaRPr lang="en-US" sz="1600" dirty="0"/>
          </a:p>
        </p:txBody>
      </p:sp>
      <p:sp>
        <p:nvSpPr>
          <p:cNvPr id="20" name="Flow arrow 3"/>
          <p:cNvSpPr/>
          <p:nvPr/>
        </p:nvSpPr>
        <p:spPr>
          <a:xfrm>
            <a:off x="7114032" y="2926080"/>
            <a:ext cx="224028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1" name="Step card 4"/>
          <p:cNvSpPr/>
          <p:nvPr/>
        </p:nvSpPr>
        <p:spPr>
          <a:xfrm>
            <a:off x="7338060" y="1554480"/>
            <a:ext cx="2039112" cy="3017520"/>
          </a:xfrm>
          <a:prstGeom prst="roundRect">
            <a:avLst>
              <a:gd name="adj" fmla="val 5381"/>
            </a:avLst>
          </a:prstGeom>
          <a:solidFill>
            <a:schemeClr val="bg2"/>
          </a:solidFill>
          <a:ln/>
        </p:spPr>
      </p:sp>
      <p:sp>
        <p:nvSpPr>
          <p:cNvPr id="22" name="Step number circle 4"/>
          <p:cNvSpPr/>
          <p:nvPr/>
        </p:nvSpPr>
        <p:spPr>
          <a:xfrm>
            <a:off x="8129016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Step number 4"/>
          <p:cNvSpPr txBox="1"/>
          <p:nvPr/>
        </p:nvSpPr>
        <p:spPr>
          <a:xfrm>
            <a:off x="812901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Step title 4"/>
          <p:cNvSpPr txBox="1"/>
          <p:nvPr/>
        </p:nvSpPr>
        <p:spPr>
          <a:xfrm>
            <a:off x="7475220" y="246888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Find evidence</a:t>
            </a:r>
            <a:endParaRPr lang="en-US" sz="2000" dirty="0"/>
          </a:p>
        </p:txBody>
      </p:sp>
      <p:sp>
        <p:nvSpPr>
          <p:cNvPr id="25" name="Step text 4"/>
          <p:cNvSpPr txBox="1"/>
          <p:nvPr/>
        </p:nvSpPr>
        <p:spPr>
          <a:xfrm>
            <a:off x="7475220" y="3017520"/>
            <a:ext cx="1764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Matching FDA label text is retrieved.</a:t>
            </a:r>
            <a:endParaRPr lang="en-US" sz="1600" dirty="0"/>
          </a:p>
        </p:txBody>
      </p:sp>
      <p:sp>
        <p:nvSpPr>
          <p:cNvPr id="26" name="Flow arrow 4"/>
          <p:cNvSpPr/>
          <p:nvPr/>
        </p:nvSpPr>
        <p:spPr>
          <a:xfrm>
            <a:off x="9377172" y="2926080"/>
            <a:ext cx="224028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7" name="Step card 5"/>
          <p:cNvSpPr/>
          <p:nvPr/>
        </p:nvSpPr>
        <p:spPr>
          <a:xfrm>
            <a:off x="9601200" y="1554480"/>
            <a:ext cx="2039112" cy="3017520"/>
          </a:xfrm>
          <a:prstGeom prst="roundRect">
            <a:avLst>
              <a:gd name="adj" fmla="val 5381"/>
            </a:avLst>
          </a:prstGeom>
          <a:solidFill>
            <a:schemeClr val="bg2"/>
          </a:solidFill>
          <a:ln/>
        </p:spPr>
      </p:sp>
      <p:sp>
        <p:nvSpPr>
          <p:cNvPr id="28" name="Step number circle 5"/>
          <p:cNvSpPr/>
          <p:nvPr/>
        </p:nvSpPr>
        <p:spPr>
          <a:xfrm>
            <a:off x="10392156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Step number 5"/>
          <p:cNvSpPr txBox="1"/>
          <p:nvPr/>
        </p:nvSpPr>
        <p:spPr>
          <a:xfrm>
            <a:off x="1039215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Step title 5"/>
          <p:cNvSpPr txBox="1"/>
          <p:nvPr/>
        </p:nvSpPr>
        <p:spPr>
          <a:xfrm>
            <a:off x="9738360" y="246888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Explain</a:t>
            </a:r>
            <a:endParaRPr lang="en-US" sz="2000" dirty="0"/>
          </a:p>
        </p:txBody>
      </p:sp>
      <p:sp>
        <p:nvSpPr>
          <p:cNvPr id="31" name="Step text 5"/>
          <p:cNvSpPr txBox="1"/>
          <p:nvPr/>
        </p:nvSpPr>
        <p:spPr>
          <a:xfrm>
            <a:off x="9738360" y="3017520"/>
            <a:ext cx="1764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A simple report with severity and sources.</a:t>
            </a:r>
            <a:endParaRPr lang="en-US" sz="1600" dirty="0"/>
          </a:p>
        </p:txBody>
      </p:sp>
      <p:sp>
        <p:nvSpPr>
          <p:cNvPr id="32" name="Safety banner"/>
          <p:cNvSpPr/>
          <p:nvPr/>
        </p:nvSpPr>
        <p:spPr>
          <a:xfrm>
            <a:off x="548640" y="493776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33" name="Safety text"/>
          <p:cNvSpPr txBox="1"/>
          <p:nvPr/>
        </p:nvSpPr>
        <p:spPr>
          <a:xfrm>
            <a:off x="914400" y="493776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Safety rule: </a:t>
            </a:r>
            <a:r>
              <a:rPr lang="en-US" sz="1800" dirty="0">
                <a:solidFill>
                  <a:schemeClr val="bg1"/>
                </a:solidFill>
              </a:rPr>
              <a:t>the user confirms every drug name before the check, and "no interaction found" is never shown as "safe".</a:t>
            </a:r>
            <a:endParaRPr lang="en-US" sz="18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Models used and why</a:t>
            </a:r>
            <a:endParaRPr lang="en-US" sz="3600" dirty="0"/>
          </a:p>
        </p:txBody>
      </p:sp>
      <p:sp>
        <p:nvSpPr>
          <p:cNvPr id="3" name="Model row 1"/>
          <p:cNvSpPr/>
          <p:nvPr/>
        </p:nvSpPr>
        <p:spPr>
          <a:xfrm>
            <a:off x="548640" y="1417320"/>
            <a:ext cx="11094415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4" name="Model 1 circle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Model 1 icon" descr="Model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1778508"/>
            <a:ext cx="329184" cy="329184"/>
          </a:xfrm>
          <a:prstGeom prst="rect">
            <a:avLst/>
          </a:prstGeom>
        </p:spPr>
      </p:pic>
      <p:sp>
        <p:nvSpPr>
          <p:cNvPr id="6" name="Model name 1"/>
          <p:cNvSpPr txBox="1"/>
          <p:nvPr/>
        </p:nvSpPr>
        <p:spPr>
          <a:xfrm>
            <a:off x="1737360" y="14173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TrOCR, fine-tuned  [6]</a:t>
            </a:r>
            <a:endParaRPr lang="en-US" sz="2000" dirty="0"/>
          </a:p>
        </p:txBody>
      </p:sp>
      <p:sp>
        <p:nvSpPr>
          <p:cNvPr id="7" name="Model reason 1"/>
          <p:cNvSpPr txBox="1"/>
          <p:nvPr/>
        </p:nvSpPr>
        <p:spPr>
          <a:xfrm>
            <a:off x="4846320" y="141732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Built for handwriting. We trained it on doctors' prescriptions and it reached 97.3% exact match on test images.</a:t>
            </a:r>
            <a:endParaRPr lang="en-US" sz="1600" dirty="0"/>
          </a:p>
        </p:txBody>
      </p:sp>
      <p:sp>
        <p:nvSpPr>
          <p:cNvPr id="8" name="Model row 2"/>
          <p:cNvSpPr/>
          <p:nvPr/>
        </p:nvSpPr>
        <p:spPr>
          <a:xfrm>
            <a:off x="548640" y="2606040"/>
            <a:ext cx="11094415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9" name="Model 2 circle"/>
          <p:cNvSpPr/>
          <p:nvPr/>
        </p:nvSpPr>
        <p:spPr>
          <a:xfrm>
            <a:off x="777240" y="2788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Model 2 icon" descr="Model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2967228"/>
            <a:ext cx="329184" cy="329184"/>
          </a:xfrm>
          <a:prstGeom prst="rect">
            <a:avLst/>
          </a:prstGeom>
        </p:spPr>
      </p:pic>
      <p:sp>
        <p:nvSpPr>
          <p:cNvPr id="11" name="Model name 2"/>
          <p:cNvSpPr txBox="1"/>
          <p:nvPr/>
        </p:nvSpPr>
        <p:spPr>
          <a:xfrm>
            <a:off x="1737360" y="26060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Fuzzy matching</a:t>
            </a:r>
            <a:endParaRPr lang="en-US" sz="2000" dirty="0"/>
          </a:p>
        </p:txBody>
      </p:sp>
      <p:sp>
        <p:nvSpPr>
          <p:cNvPr id="12" name="Model reason 2"/>
          <p:cNvSpPr txBox="1"/>
          <p:nvPr/>
        </p:nvSpPr>
        <p:spPr>
          <a:xfrm>
            <a:off x="4846320" y="260604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Fixes small spelling slips by snapping each reading to a trusted list of drug names.</a:t>
            </a:r>
            <a:endParaRPr lang="en-US" sz="1600" dirty="0"/>
          </a:p>
        </p:txBody>
      </p:sp>
      <p:sp>
        <p:nvSpPr>
          <p:cNvPr id="13" name="Model row 3"/>
          <p:cNvSpPr/>
          <p:nvPr/>
        </p:nvSpPr>
        <p:spPr>
          <a:xfrm>
            <a:off x="548640" y="3794760"/>
            <a:ext cx="11094415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4" name="Model 3 circle"/>
          <p:cNvSpPr/>
          <p:nvPr/>
        </p:nvSpPr>
        <p:spPr>
          <a:xfrm>
            <a:off x="777240" y="3977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Model 3 icon" descr="Model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" y="4155948"/>
            <a:ext cx="329184" cy="329184"/>
          </a:xfrm>
          <a:prstGeom prst="rect">
            <a:avLst/>
          </a:prstGeom>
        </p:spPr>
      </p:pic>
      <p:sp>
        <p:nvSpPr>
          <p:cNvPr id="16" name="Model name 3"/>
          <p:cNvSpPr txBox="1"/>
          <p:nvPr/>
        </p:nvSpPr>
        <p:spPr>
          <a:xfrm>
            <a:off x="1737360" y="379476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MiniLM + FAISS  [7, 8, 9]</a:t>
            </a:r>
            <a:endParaRPr lang="en-US" sz="2000" dirty="0"/>
          </a:p>
        </p:txBody>
      </p:sp>
      <p:sp>
        <p:nvSpPr>
          <p:cNvPr id="17" name="Model reason 3"/>
          <p:cNvSpPr txBox="1"/>
          <p:nvPr/>
        </p:nvSpPr>
        <p:spPr>
          <a:xfrm>
            <a:off x="4846320" y="379476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Finds the FDA text that talks about both drugs, so answers come from evidence.</a:t>
            </a:r>
            <a:endParaRPr lang="en-US" sz="1600" dirty="0"/>
          </a:p>
        </p:txBody>
      </p:sp>
      <p:sp>
        <p:nvSpPr>
          <p:cNvPr id="18" name="Model row 4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9" name="Model 4 circle"/>
          <p:cNvSpPr/>
          <p:nvPr/>
        </p:nvSpPr>
        <p:spPr>
          <a:xfrm>
            <a:off x="777240" y="5166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Model 4 icon" descr="Model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" y="5344668"/>
            <a:ext cx="329184" cy="329184"/>
          </a:xfrm>
          <a:prstGeom prst="rect">
            <a:avLst/>
          </a:prstGeom>
        </p:spPr>
      </p:pic>
      <p:sp>
        <p:nvSpPr>
          <p:cNvPr id="21" name="Model name 4"/>
          <p:cNvSpPr txBox="1"/>
          <p:nvPr/>
        </p:nvSpPr>
        <p:spPr>
          <a:xfrm>
            <a:off x="1737360" y="498348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Claude (LLM)  [10]</a:t>
            </a:r>
            <a:endParaRPr lang="en-US" sz="2000" dirty="0"/>
          </a:p>
        </p:txBody>
      </p:sp>
      <p:sp>
        <p:nvSpPr>
          <p:cNvPr id="22" name="Model reason 4"/>
          <p:cNvSpPr txBox="1"/>
          <p:nvPr/>
        </p:nvSpPr>
        <p:spPr>
          <a:xfrm>
            <a:off x="4846320" y="498348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Explains that text in simple words. It is not allowed to give dose advice.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Datasets and what they are for</a:t>
            </a:r>
            <a:endParaRPr lang="en-US" sz="3600" dirty="0"/>
          </a:p>
        </p:txBody>
      </p:sp>
      <p:sp>
        <p:nvSpPr>
          <p:cNvPr id="3" name="Dataset row 1"/>
          <p:cNvSpPr/>
          <p:nvPr/>
        </p:nvSpPr>
        <p:spPr>
          <a:xfrm>
            <a:off x="548640" y="1371600"/>
            <a:ext cx="11094415" cy="859536"/>
          </a:xfrm>
          <a:prstGeom prst="roundRect">
            <a:avLst>
              <a:gd name="adj" fmla="val 12766"/>
            </a:avLst>
          </a:prstGeom>
          <a:solidFill>
            <a:schemeClr val="bg2"/>
          </a:solidFill>
          <a:ln/>
        </p:spPr>
      </p:sp>
      <p:sp>
        <p:nvSpPr>
          <p:cNvPr id="4" name="Dataset 1 circle"/>
          <p:cNvSpPr/>
          <p:nvPr/>
        </p:nvSpPr>
        <p:spPr>
          <a:xfrm>
            <a:off x="731520" y="152704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Dataset 1 icon" descr="Datase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1669694"/>
            <a:ext cx="263347" cy="263347"/>
          </a:xfrm>
          <a:prstGeom prst="rect">
            <a:avLst/>
          </a:prstGeom>
        </p:spPr>
      </p:pic>
      <p:sp>
        <p:nvSpPr>
          <p:cNvPr id="6" name="Dataset name 1"/>
          <p:cNvSpPr txBox="1"/>
          <p:nvPr/>
        </p:nvSpPr>
        <p:spPr>
          <a:xfrm>
            <a:off x="1554480" y="1371600"/>
            <a:ext cx="3566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DDInter  [1]</a:t>
            </a:r>
            <a:endParaRPr lang="en-US" sz="1600" dirty="0"/>
          </a:p>
        </p:txBody>
      </p:sp>
      <p:sp>
        <p:nvSpPr>
          <p:cNvPr id="7" name="Dataset content 1"/>
          <p:cNvSpPr txBox="1"/>
          <p:nvPr/>
        </p:nvSpPr>
        <p:spPr>
          <a:xfrm>
            <a:off x="4754880" y="1371600"/>
            <a:ext cx="3657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160,235 drug-drug interactions with severity levels</a:t>
            </a:r>
            <a:endParaRPr lang="en-US" sz="1400" dirty="0"/>
          </a:p>
        </p:txBody>
      </p:sp>
      <p:sp>
        <p:nvSpPr>
          <p:cNvPr id="8" name="Dataset use 1"/>
          <p:cNvSpPr txBox="1"/>
          <p:nvPr/>
        </p:nvSpPr>
        <p:spPr>
          <a:xfrm>
            <a:off x="8595360" y="1371600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Used to: </a:t>
            </a:r>
            <a:r>
              <a:rPr lang="en-US" sz="1400" dirty="0">
                <a:solidFill>
                  <a:schemeClr val="tx1"/>
                </a:solidFill>
              </a:rPr>
              <a:t>Check each pair of medicines</a:t>
            </a:r>
            <a:endParaRPr lang="en-US" sz="1400" dirty="0"/>
          </a:p>
        </p:txBody>
      </p:sp>
      <p:sp>
        <p:nvSpPr>
          <p:cNvPr id="9" name="Dataset row 2"/>
          <p:cNvSpPr/>
          <p:nvPr/>
        </p:nvSpPr>
        <p:spPr>
          <a:xfrm>
            <a:off x="548640" y="2340864"/>
            <a:ext cx="11094415" cy="859536"/>
          </a:xfrm>
          <a:prstGeom prst="roundRect">
            <a:avLst>
              <a:gd name="adj" fmla="val 12766"/>
            </a:avLst>
          </a:prstGeom>
          <a:solidFill>
            <a:schemeClr val="bg2"/>
          </a:solidFill>
          <a:ln/>
        </p:spPr>
      </p:sp>
      <p:sp>
        <p:nvSpPr>
          <p:cNvPr id="10" name="Dataset 2 circle"/>
          <p:cNvSpPr/>
          <p:nvPr/>
        </p:nvSpPr>
        <p:spPr>
          <a:xfrm>
            <a:off x="731520" y="24963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Dataset 2 icon" descr="Dataset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" y="2638958"/>
            <a:ext cx="263347" cy="263347"/>
          </a:xfrm>
          <a:prstGeom prst="rect">
            <a:avLst/>
          </a:prstGeom>
        </p:spPr>
      </p:pic>
      <p:sp>
        <p:nvSpPr>
          <p:cNvPr id="12" name="Dataset name 2"/>
          <p:cNvSpPr txBox="1"/>
          <p:nvPr/>
        </p:nvSpPr>
        <p:spPr>
          <a:xfrm>
            <a:off x="1554480" y="2340864"/>
            <a:ext cx="3566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openFDA drug labels  [2]</a:t>
            </a:r>
            <a:endParaRPr lang="en-US" sz="1600" dirty="0"/>
          </a:p>
        </p:txBody>
      </p:sp>
      <p:sp>
        <p:nvSpPr>
          <p:cNvPr id="13" name="Dataset content 2"/>
          <p:cNvSpPr txBox="1"/>
          <p:nvPr/>
        </p:nvSpPr>
        <p:spPr>
          <a:xfrm>
            <a:off x="4754880" y="2340864"/>
            <a:ext cx="3657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Official FDA warnings and interaction text</a:t>
            </a:r>
            <a:endParaRPr lang="en-US" sz="1400" dirty="0"/>
          </a:p>
        </p:txBody>
      </p:sp>
      <p:sp>
        <p:nvSpPr>
          <p:cNvPr id="14" name="Dataset use 2"/>
          <p:cNvSpPr txBox="1"/>
          <p:nvPr/>
        </p:nvSpPr>
        <p:spPr>
          <a:xfrm>
            <a:off x="8595360" y="2340864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Used to: </a:t>
            </a:r>
            <a:r>
              <a:rPr lang="en-US" sz="1400" dirty="0">
                <a:solidFill>
                  <a:schemeClr val="tx1"/>
                </a:solidFill>
              </a:rPr>
              <a:t>Evidence for the explanations</a:t>
            </a:r>
            <a:endParaRPr lang="en-US" sz="1400" dirty="0"/>
          </a:p>
        </p:txBody>
      </p:sp>
      <p:sp>
        <p:nvSpPr>
          <p:cNvPr id="15" name="Dataset row 3"/>
          <p:cNvSpPr/>
          <p:nvPr/>
        </p:nvSpPr>
        <p:spPr>
          <a:xfrm>
            <a:off x="548640" y="3310128"/>
            <a:ext cx="11094415" cy="859536"/>
          </a:xfrm>
          <a:prstGeom prst="roundRect">
            <a:avLst>
              <a:gd name="adj" fmla="val 12766"/>
            </a:avLst>
          </a:prstGeom>
          <a:solidFill>
            <a:schemeClr val="bg2"/>
          </a:solidFill>
          <a:ln/>
        </p:spPr>
      </p:sp>
      <p:sp>
        <p:nvSpPr>
          <p:cNvPr id="16" name="Dataset 3 circle"/>
          <p:cNvSpPr/>
          <p:nvPr/>
        </p:nvSpPr>
        <p:spPr>
          <a:xfrm>
            <a:off x="731520" y="346557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Dataset 3 icon" descr="Dataset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3608222"/>
            <a:ext cx="263347" cy="263347"/>
          </a:xfrm>
          <a:prstGeom prst="rect">
            <a:avLst/>
          </a:prstGeom>
        </p:spPr>
      </p:pic>
      <p:sp>
        <p:nvSpPr>
          <p:cNvPr id="18" name="Dataset name 3"/>
          <p:cNvSpPr txBox="1"/>
          <p:nvPr/>
        </p:nvSpPr>
        <p:spPr>
          <a:xfrm>
            <a:off x="1554480" y="3310128"/>
            <a:ext cx="3566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RxNorm  [3]</a:t>
            </a:r>
            <a:endParaRPr lang="en-US" sz="1600" dirty="0"/>
          </a:p>
        </p:txBody>
      </p:sp>
      <p:sp>
        <p:nvSpPr>
          <p:cNvPr id="19" name="Dataset content 3"/>
          <p:cNvSpPr txBox="1"/>
          <p:nvPr/>
        </p:nvSpPr>
        <p:spPr>
          <a:xfrm>
            <a:off x="4754880" y="3310128"/>
            <a:ext cx="3657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Standard drug names from the US National Library of Medicine</a:t>
            </a:r>
            <a:endParaRPr lang="en-US" sz="1400" dirty="0"/>
          </a:p>
        </p:txBody>
      </p:sp>
      <p:sp>
        <p:nvSpPr>
          <p:cNvPr id="20" name="Dataset use 3"/>
          <p:cNvSpPr txBox="1"/>
          <p:nvPr/>
        </p:nvSpPr>
        <p:spPr>
          <a:xfrm>
            <a:off x="8595360" y="3310128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Used to: </a:t>
            </a:r>
            <a:r>
              <a:rPr lang="en-US" sz="1400" dirty="0">
                <a:solidFill>
                  <a:schemeClr val="tx1"/>
                </a:solidFill>
              </a:rPr>
              <a:t>Suggest names when unclear</a:t>
            </a:r>
            <a:endParaRPr lang="en-US" sz="1400" dirty="0"/>
          </a:p>
        </p:txBody>
      </p:sp>
      <p:sp>
        <p:nvSpPr>
          <p:cNvPr id="21" name="Dataset row 4"/>
          <p:cNvSpPr/>
          <p:nvPr/>
        </p:nvSpPr>
        <p:spPr>
          <a:xfrm>
            <a:off x="548640" y="4279392"/>
            <a:ext cx="11094415" cy="859536"/>
          </a:xfrm>
          <a:prstGeom prst="roundRect">
            <a:avLst>
              <a:gd name="adj" fmla="val 12766"/>
            </a:avLst>
          </a:prstGeom>
          <a:solidFill>
            <a:schemeClr val="bg2"/>
          </a:solidFill>
          <a:ln/>
        </p:spPr>
      </p:sp>
      <p:sp>
        <p:nvSpPr>
          <p:cNvPr id="22" name="Dataset 4 circle"/>
          <p:cNvSpPr/>
          <p:nvPr/>
        </p:nvSpPr>
        <p:spPr>
          <a:xfrm>
            <a:off x="731520" y="4434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Dataset 4 icon" descr="Dataset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6" y="4577486"/>
            <a:ext cx="263347" cy="263347"/>
          </a:xfrm>
          <a:prstGeom prst="rect">
            <a:avLst/>
          </a:prstGeom>
        </p:spPr>
      </p:pic>
      <p:sp>
        <p:nvSpPr>
          <p:cNvPr id="24" name="Dataset name 4"/>
          <p:cNvSpPr txBox="1"/>
          <p:nvPr/>
        </p:nvSpPr>
        <p:spPr>
          <a:xfrm>
            <a:off x="1554480" y="4279392"/>
            <a:ext cx="3566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Prescription BD handwriting  [4]</a:t>
            </a:r>
            <a:endParaRPr lang="en-US" sz="1600" dirty="0"/>
          </a:p>
        </p:txBody>
      </p:sp>
      <p:sp>
        <p:nvSpPr>
          <p:cNvPr id="25" name="Dataset content 4"/>
          <p:cNvSpPr txBox="1"/>
          <p:nvPr/>
        </p:nvSpPr>
        <p:spPr>
          <a:xfrm>
            <a:off x="4754880" y="4279392"/>
            <a:ext cx="3657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4,680 word images written by doctors</a:t>
            </a:r>
            <a:endParaRPr lang="en-US" sz="1400" dirty="0"/>
          </a:p>
        </p:txBody>
      </p:sp>
      <p:sp>
        <p:nvSpPr>
          <p:cNvPr id="26" name="Dataset use 4"/>
          <p:cNvSpPr txBox="1"/>
          <p:nvPr/>
        </p:nvSpPr>
        <p:spPr>
          <a:xfrm>
            <a:off x="8595360" y="4279392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Used to: </a:t>
            </a:r>
            <a:r>
              <a:rPr lang="en-US" sz="1400" dirty="0">
                <a:solidFill>
                  <a:schemeClr val="tx1"/>
                </a:solidFill>
              </a:rPr>
              <a:t>Train and test the handwriting model</a:t>
            </a:r>
            <a:endParaRPr lang="en-US" sz="1400" dirty="0"/>
          </a:p>
        </p:txBody>
      </p:sp>
      <p:sp>
        <p:nvSpPr>
          <p:cNvPr id="27" name="Dataset row 5"/>
          <p:cNvSpPr/>
          <p:nvPr/>
        </p:nvSpPr>
        <p:spPr>
          <a:xfrm>
            <a:off x="548640" y="5248656"/>
            <a:ext cx="11094415" cy="859536"/>
          </a:xfrm>
          <a:prstGeom prst="roundRect">
            <a:avLst>
              <a:gd name="adj" fmla="val 12766"/>
            </a:avLst>
          </a:prstGeom>
          <a:solidFill>
            <a:schemeClr val="bg2"/>
          </a:solidFill>
          <a:ln/>
        </p:spPr>
      </p:sp>
      <p:sp>
        <p:nvSpPr>
          <p:cNvPr id="28" name="Dataset 5 circle"/>
          <p:cNvSpPr/>
          <p:nvPr/>
        </p:nvSpPr>
        <p:spPr>
          <a:xfrm>
            <a:off x="731520" y="540410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Dataset 5 icon" descr="Dataset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6" y="5546750"/>
            <a:ext cx="263347" cy="263347"/>
          </a:xfrm>
          <a:prstGeom prst="rect">
            <a:avLst/>
          </a:prstGeom>
        </p:spPr>
      </p:pic>
      <p:sp>
        <p:nvSpPr>
          <p:cNvPr id="30" name="Dataset name 5"/>
          <p:cNvSpPr txBox="1"/>
          <p:nvPr/>
        </p:nvSpPr>
        <p:spPr>
          <a:xfrm>
            <a:off x="1554480" y="5248656"/>
            <a:ext cx="3566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Handwritten Medicine Data  [5]</a:t>
            </a:r>
            <a:endParaRPr lang="en-US" sz="1600" dirty="0"/>
          </a:p>
        </p:txBody>
      </p:sp>
      <p:sp>
        <p:nvSpPr>
          <p:cNvPr id="31" name="Dataset content 5"/>
          <p:cNvSpPr txBox="1"/>
          <p:nvPr/>
        </p:nvSpPr>
        <p:spPr>
          <a:xfrm>
            <a:off x="4754880" y="5248656"/>
            <a:ext cx="3657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Labelled handwritten medicine names</a:t>
            </a:r>
            <a:endParaRPr lang="en-US" sz="1400" dirty="0"/>
          </a:p>
        </p:txBody>
      </p:sp>
      <p:sp>
        <p:nvSpPr>
          <p:cNvPr id="32" name="Dataset use 5"/>
          <p:cNvSpPr txBox="1"/>
          <p:nvPr/>
        </p:nvSpPr>
        <p:spPr>
          <a:xfrm>
            <a:off x="8595360" y="5248656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Used to: </a:t>
            </a:r>
            <a:r>
              <a:rPr lang="en-US" sz="1400" dirty="0">
                <a:solidFill>
                  <a:schemeClr val="tx1"/>
                </a:solidFill>
              </a:rPr>
              <a:t>Train and test the handwriting model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</a:t>
            </a:r>
            <a:endParaRPr lang="en-US" sz="3600" dirty="0"/>
          </a:p>
        </p:txBody>
      </p:sp>
      <p:sp>
        <p:nvSpPr>
          <p:cNvPr id="3" name="Reference list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[1] Xiong, G., et al. (2022). DDInter: an online drug-drug interaction database towards improving clinical decision-making and patient safety. Nucleic Acids Research, 50(D1), D1200-D1207. https://doi.org/10.1093/nar/gkab880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[2] U.S. Food and Drug Administration. openFDA drug labeling API. https://open.fda.gov/apis/drug/label/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[3] Nelson, S. J., et al. (2011). Normalized names for clinical drugs: RxNorm at 6 years. JAMIA, 18(4), 441-448.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[4] Tanny, A. (2024). A deep neural network approach with pioneering local dataset to recognize doctor's handwritten prescription in Bangladesh. iCACCESS 2024. Dataset on Kaggle: mamun1113/doctors-handwritten-prescription-bd-dataset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[5] Handwritten Medicine Data. Kaggle: kalashsh/handwritten-medicine-data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[6] Li, M., et al. (2023). TrOCR: Transformer-based optical character recognition with pre-trained models. AAAI 2023. arXiv:2109.10282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[7] Reimers, N., &amp; Gurevych, I. (2019). Sentence-BERT: Sentence embeddings using Siamese BERT-networks. EMNLP-IJCNLP 2019. arXiv:1908.10084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[8] Johnson, J., Douze, M., &amp; Jegou, H. (2021). Billion-scale similarity search with GPUs. IEEE Transactions on Big Data, 7(3). arXiv:1702.08734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[9] Lewis, P., et al. (2020). Retrieval-augmented generation for knowledge-intensive NLP tasks. NeurIPS 2020. arXiv:2005.11401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[10] Anthropic. Claude API documentation. https://docs.claude.com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mber pill 2"/>
          <p:cNvSpPr/>
          <p:nvPr/>
        </p:nvSpPr>
        <p:spPr>
          <a:xfrm>
            <a:off x="579902" y="2773677"/>
            <a:ext cx="11174437" cy="1241083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6" name="Text 0"/>
          <p:cNvSpPr txBox="1">
            <a:spLocks/>
          </p:cNvSpPr>
          <p:nvPr/>
        </p:nvSpPr>
        <p:spPr>
          <a:xfrm>
            <a:off x="4470009" y="2937018"/>
            <a:ext cx="32848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398482"/>
      </p:ext>
    </p:extLst>
  </p:cSld>
  <p:clrMapOvr>
    <a:masterClrMapping/>
  </p:clrMapOvr>
</p:sld>
</file>

<file path=ppt/theme/theme1.xml><?xml version="1.0" encoding="utf-8"?>
<a:theme xmlns:a="http://schemas.openxmlformats.org/drawingml/2006/main" name="MedInteract">
  <a:themeElements>
    <a:clrScheme name="MedInteract">
      <a:dk1>
        <a:srgbClr val="0B2545"/>
      </a:dk1>
      <a:lt1>
        <a:srgbClr val="FFFFFF"/>
      </a:lt1>
      <a:dk2>
        <a:srgbClr val="13315C"/>
      </a:dk2>
      <a:lt2>
        <a:srgbClr val="EAF3F6"/>
      </a:lt2>
      <a:accent1>
        <a:srgbClr val="0E8F9B"/>
      </a:accent1>
      <a:accent2>
        <a:srgbClr val="D9482B"/>
      </a:accent2>
      <a:accent3>
        <a:srgbClr val="13315C"/>
      </a:accent3>
      <a:accent4>
        <a:srgbClr val="8DA9C4"/>
      </a:accent4>
      <a:accent5>
        <a:srgbClr val="E8A33D"/>
      </a:accent5>
      <a:accent6>
        <a:srgbClr val="3E9B7F"/>
      </a:accent6>
      <a:hlink>
        <a:srgbClr val="0E8F9B"/>
      </a:hlink>
      <a:folHlink>
        <a:srgbClr val="8DA9C4"/>
      </a:folHlink>
    </a:clrScheme>
    <a:fontScheme name="MedInterac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842</Words>
  <Application>Microsoft Office PowerPoint</Application>
  <PresentationFormat>Widescreen</PresentationFormat>
  <Paragraphs>90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MedInteract</vt:lpstr>
      <vt:lpstr>MedInteract AI</vt:lpstr>
      <vt:lpstr>The problem and our idea</vt:lpstr>
      <vt:lpstr>How it works</vt:lpstr>
      <vt:lpstr>Models used and why</vt:lpstr>
      <vt:lpstr>Datasets and what they are for</vt:lpstr>
      <vt:lpstr>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MedInteract AI</dc:title>
  <dc:subject>PptxGenJS Presentation</dc:subject>
  <dc:creator>Mariam Ali, Sarah Mohsen, Sarah Sameh</dc:creator>
  <cp:lastModifiedBy>pc</cp:lastModifiedBy>
  <cp:revision>2</cp:revision>
  <dcterms:created xsi:type="dcterms:W3CDTF">2026-10-06T04:10:09Z</dcterms:created>
  <dcterms:modified xsi:type="dcterms:W3CDTF">2026-10-06T04:27:28Z</dcterms:modified>
</cp:coreProperties>
</file>